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01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Project Overview &amp; Problem Statement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ClinicalAI: 30-Day Hospital Readmission Risk Prediction &amp; Intelligent Care Transition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1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40233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40233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PROJECT META &amp; TARGET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6576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Selected Domain: </a:t>
            </a:r>
            <a:r>
              <a:rPr b="0">
                <a:solidFill>
                  <a:srgbClr val="475569"/>
                </a:solidFill>
              </a:rPr>
              <a:t>Healthcare &amp; MedTech / Clinical Decision Support (CDS)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Project Title: </a:t>
            </a:r>
            <a:r>
              <a:rPr b="0">
                <a:solidFill>
                  <a:srgbClr val="475569"/>
                </a:solidFill>
              </a:rPr>
              <a:t>ClinicalAI - Hospital Readmission CDS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Team Details: </a:t>
            </a:r>
            <a:r>
              <a:rPr b="0">
                <a:solidFill>
                  <a:srgbClr val="475569"/>
                </a:solidFill>
              </a:rPr>
              <a:t>Team 8 (Hospital AI Innovation Cohort)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Data Foundation: </a:t>
            </a:r>
            <a:r>
              <a:rPr b="0">
                <a:solidFill>
                  <a:srgbClr val="475569"/>
                </a:solidFill>
              </a:rPr>
              <a:t>UCI 130-US Hospitals Diabetes Dataset (101,766 Inpatient Encounters over 10 Years)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Clinical Focus: </a:t>
            </a:r>
            <a:r>
              <a:rPr b="0">
                <a:solidFill>
                  <a:srgbClr val="475569"/>
                </a:solidFill>
              </a:rPr>
              <a:t>Diabetic Inpatients with Multimorbidity &amp; Polypharmacy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</a:defRPr>
            </a:pPr>
            <a:r>
              <a:t>Target End-Users: 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Discharge Planners: </a:t>
            </a:r>
            <a:r>
              <a:rPr b="0">
                <a:solidFill>
                  <a:srgbClr val="475569"/>
                </a:solidFill>
              </a:rPr>
              <a:t>Triage and coordinate post-acute transition plans.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Attending Physicians: </a:t>
            </a:r>
            <a:r>
              <a:rPr b="0">
                <a:solidFill>
                  <a:srgbClr val="475569"/>
                </a:solidFill>
              </a:rPr>
              <a:t>Review clinical AI rationale and sign off on care orders.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Clinical Pharmacists: </a:t>
            </a:r>
            <a:r>
              <a:rPr b="0">
                <a:solidFill>
                  <a:srgbClr val="475569"/>
                </a:solidFill>
              </a:rPr>
              <a:t>Reconcile high-risk polypharmacy medication regimens.</a:t>
            </a:r>
          </a:p>
          <a:p>
            <a:pPr>
              <a:spcAft>
                <a:spcPts val="500"/>
              </a:spcAft>
              <a:defRPr sz="950" b="1">
                <a:solidFill>
                  <a:srgbClr val="2563EB"/>
                </a:solidFill>
              </a:defRPr>
            </a:pPr>
            <a:r>
              <a:t>• Post-Acute Telehealth: </a:t>
            </a:r>
            <a:r>
              <a:rPr b="0">
                <a:solidFill>
                  <a:srgbClr val="475569"/>
                </a:solidFill>
              </a:rPr>
              <a:t>Prioritize 48-hour post-discharge patient outreach.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280160"/>
            <a:ext cx="6888175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280160"/>
            <a:ext cx="688817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353312"/>
            <a:ext cx="6613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THE PROBLEM: A $26B AVOIDABLE HEALTHCARE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783080"/>
            <a:ext cx="6492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DC2626"/>
                </a:solidFill>
              </a:rPr>
              <a:t>[FINANCIAL CRISIS] </a:t>
            </a:r>
            <a:r>
              <a:rPr sz="1000">
                <a:solidFill>
                  <a:srgbClr val="0F172A"/>
                </a:solidFill>
              </a:rPr>
              <a:t>Unplanned 30-day hospital readmissions exceed $26 Billion annually in avoidable medical costs across US and global health systems.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DC2626"/>
                </a:solidFill>
              </a:rPr>
              <a:t>[PUNITIVE HRRP PENALTIES] </a:t>
            </a:r>
            <a:r>
              <a:rPr sz="1000">
                <a:solidFill>
                  <a:srgbClr val="0F172A"/>
                </a:solidFill>
              </a:rPr>
              <a:t>Under CMS Hospital Readmissions Reduction Program, hospitals face direct Medicare reimbursement forfeitures (up to 3% penalty) for excess readmissions.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2563EB"/>
                </a:solidFill>
              </a:rPr>
              <a:t>[COMPLEX COMORBIDITY RELAPSE] </a:t>
            </a:r>
            <a:r>
              <a:rPr sz="1000">
                <a:solidFill>
                  <a:srgbClr val="0F172A"/>
                </a:solidFill>
              </a:rPr>
              <a:t>Diabetic inpatients face extreme vulnerability: 43.8% suffer from polypharmacy (&gt;=10 active medications), compounding metabolic and cardiovascular relapse risk.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2563EB"/>
                </a:solidFill>
              </a:rPr>
              <a:t>[SUBJECTIVE MANUAL TRIAGE] </a:t>
            </a:r>
            <a:r>
              <a:rPr sz="1000">
                <a:solidFill>
                  <a:srgbClr val="0F172A"/>
                </a:solidFill>
              </a:rPr>
              <a:t>Current discharge planning relies on subjective intuition or retrospective paper notes, missing over 45% of preventable readmission candidates.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251960"/>
            <a:ext cx="688817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4251960"/>
            <a:ext cx="6888175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325112"/>
            <a:ext cx="6613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KEY CHALLENGE METRICS ADDRESSED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709160"/>
            <a:ext cx="201168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800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11.16%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Actual Readmissions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Ground truth 30-day readmissions across 101,766 diabetic patient encounters.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4032" y="4709160"/>
            <a:ext cx="201168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4800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43.80%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Polypharmacy Alert Rate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Inpatients taking &gt;=10 active medications facing severe adverse drug interactions.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90304" y="4709160"/>
            <a:ext cx="201168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48006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59.45%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Targeted ML Sensitivity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Prioritizing recall over accuracy to catch ~60% of all readmissions at point of 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02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Proposed Solution &amp; Core Objectives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Explainable Clinical Decision Support System with Real-Time Risk Stratification &amp; Targeted Care Bundles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2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9441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PROPOSAL: BEDSIDE PREDICTIVE CDS WITH ON-DEMAND CLINICAL AI REASONING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An end-to-end clinical intelligence suite pairing calibrated gradient boosting (XGBoost) with ultra-fast LLM reasoning (Groq: openai/gpt-oss-120b). It continuously evaluates inpatient EHR records, stratifies 30-day readmission risk, synthesizes 5-point actionable clinical rationale, and prescribes targeted care transition orders before discharge.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35963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3596335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1. KEY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33220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Recall-First Clinical Tuning</a:t>
            </a:r>
            <a:br/>
            <a:r>
              <a:rPr b="0" sz="950">
                <a:solidFill>
                  <a:srgbClr val="475569"/>
                </a:solidFill>
              </a:rPr>
              <a:t>Prioritize sensitivity (&gt;=59%) over raw accuracy to catch high-risk relapsing patients before discharge rather than optimizing for aggregate accuracy.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Explainable AI Decisions</a:t>
            </a:r>
            <a:br/>
            <a:r>
              <a:rPr b="0" sz="950">
                <a:solidFill>
                  <a:srgbClr val="475569"/>
                </a:solidFill>
              </a:rPr>
              <a:t>Eliminate physician black-box skepticism via local directional feature attribution and narrative clinical justification.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Demographic Parity Governance</a:t>
            </a:r>
            <a:br/>
            <a:r>
              <a:rPr b="0" sz="950">
                <a:solidFill>
                  <a:srgbClr val="475569"/>
                </a:solidFill>
              </a:rPr>
              <a:t>Ensure ethical equity and equalized opportunity across Age, Race, and Gender protected cohorts via active disparity audits.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897880"/>
            <a:ext cx="3322015" cy="36576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METRIC: 59.45% RECALL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2468880"/>
            <a:ext cx="35963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2468880"/>
            <a:ext cx="359633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54203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2. CORE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71800"/>
            <a:ext cx="33220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Discharge Readiness Worklist</a:t>
            </a:r>
            <a:br/>
            <a:r>
              <a:rPr b="0" sz="950">
                <a:solidFill>
                  <a:srgbClr val="475569"/>
                </a:solidFill>
              </a:rPr>
              <a:t>High-density queue displaying real-time patient risk tiers, biomarker flags, and automated protocol recommendations.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Bedside Simulation Engine</a:t>
            </a:r>
            <a:br/>
            <a:r>
              <a:rPr b="0" sz="950">
                <a:solidFill>
                  <a:srgbClr val="475569"/>
                </a:solidFill>
              </a:rPr>
              <a:t>Interactive parameter sliders allowing clinicians to adjust stay duration, meds, and A1C to model post-discharge trajectories in real-time.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On-Demand Groq AI Modal</a:t>
            </a:r>
            <a:br/>
            <a:r>
              <a:rPr b="0" sz="950">
                <a:solidFill>
                  <a:srgbClr val="475569"/>
                </a:solidFill>
              </a:rPr>
              <a:t>Sub-second synthesis of exactly 5 structured clinical points validating discharge or discharge-delay decisions.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5897880"/>
            <a:ext cx="3322015" cy="3657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FEATURE: SUB-SECOND GROQ MODAL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468880"/>
            <a:ext cx="35963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2468880"/>
            <a:ext cx="3596335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54203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3. MEASURABLE 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971800"/>
            <a:ext cx="33220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HRRP Penalty Avoidance</a:t>
            </a:r>
            <a:br/>
            <a:r>
              <a:rPr b="0" sz="950">
                <a:solidFill>
                  <a:srgbClr val="475569"/>
                </a:solidFill>
              </a:rPr>
              <a:t>Directly lowers avoidable 30-day readmissions, protecting hospital operating margins and Medicare reimbursement compliance.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Targeted Resource Allocation</a:t>
            </a:r>
            <a:br/>
            <a:r>
              <a:rPr b="0" sz="950">
                <a:solidFill>
                  <a:srgbClr val="475569"/>
                </a:solidFill>
              </a:rPr>
              <a:t>Dispatches high-cost protocols (PharmD Bedside Recon, Home Health) only to patients with verified clinical need.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• Physician Trust &amp; Workflow Fit</a:t>
            </a:r>
            <a:br/>
            <a:r>
              <a:rPr b="0" sz="950">
                <a:solidFill>
                  <a:srgbClr val="475569"/>
                </a:solidFill>
              </a:rPr>
              <a:t>High-density clinical slate UI built to authentic EHR hospital standards without distracting clutter.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5897880"/>
            <a:ext cx="3322015" cy="36576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ROI: MILLIONS SAVED IN PENALTIES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03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Innovation &amp; Existing Alternatives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Structured Comparison Matrix and the Four Core Technological Differentiators of ClinicalAI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3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94415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COMPETITIVE ARCHITECTURE COMPARISON MATRIX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737360"/>
          <a:ext cx="1082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322015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Static Scores (LACE / HOSPITAL)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Standard Commercial EHR 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ClinicalAI (Our Solution)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Clinical Feature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4-6 static tally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Tabular ML without clinical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45+ clinical biomarkers, meds, and diagnoses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Recall / Sensitivity Focus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Uncalibrated / Arbitrary cutoffs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Low recall (optimizes for overall AUC)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High sensitivity (59.45%, scale_pos_weight=7.96)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Explainability &amp;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None (opaque single integer)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Global feature charts only (no narrative)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Hybrid: Local Feature Impact + 5-Point Groq AI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Actionable Care Directives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Score only (no care pathway)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Score only (no protocol linkage)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Prescribes targeted bundles (PharmD, Telehealth)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Algorithmic Fairness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Completely 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Unmonitored demographic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Built-in Fairlearn parity audits; Age disparity &lt; 1%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DUAL-LAYER INFERENCE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Couples calibrated XGBoost tabular scoring with sub-second on-demand Groq LLM (gpt-oss-120b) clinical reasoning.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RECALL-FIRST FOCUS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Configured with scale_pos_weight=7.96 catching ~60% of all readmissions at point of care, preventing fatal misses.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AUDITED PARITY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Age TPR disparity reduced from 17.13% to 0.96%; 94.24% Gender Demographic Parity (EEOC 4/5ths compliant).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4892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4983480"/>
            <a:ext cx="24323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ACTIONABLE DIRECTIVES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Directly prescribes Pharmacist Bedside Recon, CDCES Referral, Home Health Nurse, and 48h Telehealth Outreach.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04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System Architecture &amp; Clinical Workflow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Labelled Pipeline from Inpatient EHR Ingestion to Point-of-Care Bedside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4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26517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1. DATA &amp;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UCI EHR Dataset: </a:t>
            </a:r>
            <a:r>
              <a:rPr b="0" sz="900">
                <a:solidFill>
                  <a:srgbClr val="475569"/>
                </a:solidFill>
              </a:rPr>
              <a:t>101,766 inpatient encounters across 10 years of hospital care.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Missing Imputation: </a:t>
            </a:r>
            <a:r>
              <a:rPr b="0" sz="900">
                <a:solidFill>
                  <a:srgbClr val="475569"/>
                </a:solidFill>
              </a:rPr>
              <a:t>Clinically sound imputation for weight, payer code, and medical specialty.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Outlier Winsorization: </a:t>
            </a:r>
            <a:r>
              <a:rPr b="0" sz="900">
                <a:solidFill>
                  <a:srgbClr val="475569"/>
                </a:solidFill>
              </a:rPr>
              <a:t>99th percentile capping on acute visits to prevent extreme skew.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Feature Engineering: </a:t>
            </a:r>
            <a:r>
              <a:rPr b="0" sz="900">
                <a:solidFill>
                  <a:srgbClr val="475569"/>
                </a:solidFill>
              </a:rPr>
              <a:t>Polypharmacy flags, admission velocity, and glycemic control tiering.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280160"/>
            <a:ext cx="26517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2. MODEL &amp; FAIRNESS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Scikit-Learn Pipeline: </a:t>
            </a:r>
            <a:r>
              <a:rPr b="0" sz="900">
                <a:solidFill>
                  <a:srgbClr val="475569"/>
                </a:solidFill>
              </a:rPr>
              <a:t>Leakage-free OneHotEncoder + RobustScaler preprocessing transformation.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XGBoost Classifier: </a:t>
            </a:r>
            <a:r>
              <a:rPr b="0" sz="900">
                <a:solidFill>
                  <a:srgbClr val="475569"/>
                </a:solidFill>
              </a:rPr>
              <a:t>Configured with scale_pos_weight=7.96 for severe class imbalance handling.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Model Benchmark: </a:t>
            </a:r>
            <a:r>
              <a:rPr b="0" sz="900">
                <a:solidFill>
                  <a:srgbClr val="475569"/>
                </a:solidFill>
              </a:rPr>
              <a:t>Evaluated against Logistic Regression &amp; Random Forest (AUC: 0.6896, Sens: 59.45%).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Fairlearn Governance: </a:t>
            </a:r>
            <a:r>
              <a:rPr b="0" sz="900">
                <a:solidFill>
                  <a:srgbClr val="475569"/>
                </a:solidFill>
              </a:rPr>
              <a:t>Active parity auditing reducing Age TPR disparity from 17.13% to 0.96%.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80160"/>
            <a:ext cx="265176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3.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Directional Attributions: </a:t>
            </a:r>
            <a:r>
              <a:rPr b="0" sz="900">
                <a:solidFill>
                  <a:srgbClr val="475569"/>
                </a:solidFill>
              </a:rPr>
              <a:t>Local horizontal feature attribution bar chart displaying top risk drivers.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Groq Cloud API: </a:t>
            </a:r>
            <a:r>
              <a:rPr b="0" sz="900">
                <a:solidFill>
                  <a:srgbClr val="475569"/>
                </a:solidFill>
              </a:rPr>
              <a:t>Ultra-fast inference via openai/gpt-oss-120b responding in sub-second time.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5 Clinical Points: </a:t>
            </a:r>
            <a:r>
              <a:rPr b="0" sz="900">
                <a:solidFill>
                  <a:srgbClr val="475569"/>
                </a:solidFill>
              </a:rPr>
              <a:t>Synthesizes stabilization, polypharmacy, A1C, utilization, and post-acute needs.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Encounter Caching: </a:t>
            </a:r>
            <a:r>
              <a:rPr b="0" sz="900">
                <a:solidFill>
                  <a:srgbClr val="475569"/>
                </a:solidFill>
              </a:rPr>
              <a:t>@st.cache_data prevents redundant LLM calls and guarantees zero doctor lag.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280160"/>
            <a:ext cx="26517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353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4. CLINICAL SLATE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737360"/>
            <a:ext cx="2423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Discharge Worklist: </a:t>
            </a:r>
            <a:r>
              <a:rPr b="0" sz="900">
                <a:solidFill>
                  <a:srgbClr val="475569"/>
                </a:solidFill>
              </a:rPr>
              <a:t>High-density queue with risk tier filters, ID search, and biomarker flags.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Bedside Calculator: </a:t>
            </a:r>
            <a:r>
              <a:rPr b="0" sz="900">
                <a:solidFill>
                  <a:srgbClr val="475569"/>
                </a:solidFill>
              </a:rPr>
              <a:t>Live slider simulation adjusting stay duration, active meds, and A1C in real-time.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Modal Dialog: </a:t>
            </a:r>
            <a:r>
              <a:rPr b="0" sz="900">
                <a:solidFill>
                  <a:srgbClr val="475569"/>
                </a:solidFill>
              </a:rPr>
              <a:t>Single-click review popup with order authorization and care team dispatch.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</a:defRPr>
            </a:pPr>
            <a:r>
              <a:t>• Zero Bloat Design: </a:t>
            </a:r>
            <a:r>
              <a:rPr b="0" sz="900">
                <a:solidFill>
                  <a:srgbClr val="475569"/>
                </a:solidFill>
              </a:rPr>
              <a:t>Space-optimized, clinical slate layout built to authentic hospital standards.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1109441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11094415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7375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END-TO-END CLINICAL USER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1: EHR Intake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Patient admitted &amp; vitals recorded in EHR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62072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79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2: Predictive Scoring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XGBoost calculates calibrated readmission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8344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3: Worklist Flag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High-Risk patient prioritized on care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14616" y="5257800"/>
            <a:ext cx="20116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Step 4: AI Consultation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Doctor clicks Review; Groq outputs 5 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90888" y="5257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6" y="5321808"/>
            <a:ext cx="18745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Step 5: Protocol Dispatch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Bedside PharmD &amp; Telehealth orders executed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05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Technology Stack &amp; Implementation Plan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Architectural Rationale, Team Division of Responsibilities, and Prototype Build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5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03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PROPOSED TECHNOLOGY STACK &amp;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Python 3.11+ / Scikit-Learn Pipeline</a:t>
            </a:r>
            <a:br/>
            <a:r>
              <a:rPr b="0" sz="950">
                <a:solidFill>
                  <a:srgbClr val="0F172A"/>
                </a:solidFill>
              </a:rPr>
              <a:t>   Suitability: Core data science runtime. Provides leakage-free preprocessor serialization, robust scaling, and stratified cross-validation for clinical reproducibility.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XGBoost 1.7+ Tabular Classifier</a:t>
            </a:r>
            <a:br/>
            <a:r>
              <a:rPr b="0" sz="950">
                <a:solidFill>
                  <a:srgbClr val="0F172A"/>
                </a:solidFill>
              </a:rPr>
              <a:t>   Suitability: Superior non-linear tabular handling, handles sparse medical codes, native scale_pos_weight class balancing, and sub-15ms inference latency.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Groq Cloud API (openai/gpt-oss-120b)</a:t>
            </a:r>
            <a:br/>
            <a:r>
              <a:rPr b="0" sz="950">
                <a:solidFill>
                  <a:srgbClr val="0F172A"/>
                </a:solidFill>
              </a:rPr>
              <a:t>   Suitability: Delivers sub-second LPU inference for bedside doctor consultation modals, generating strict 5-point clinical reasoning without doctor waiting.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Fairlearn Governance Framework</a:t>
            </a:r>
            <a:br/>
            <a:r>
              <a:rPr b="0" sz="950">
                <a:solidFill>
                  <a:srgbClr val="0F172A"/>
                </a:solidFill>
              </a:rPr>
              <a:t>   Suitability: Enforces ethical AI compliance by auditing Demographic Parity Ratios and Equalized Odds TPR/FPR disparities across protected demographics.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Streamlit Custom Clinical Slate UI</a:t>
            </a:r>
            <a:br/>
            <a:r>
              <a:rPr b="0" sz="950">
                <a:solidFill>
                  <a:srgbClr val="0F172A"/>
                </a:solidFill>
              </a:rPr>
              <a:t>   Suitability: High-density clinical decision dashboard, custom Inter typography, responsive patient cards, and native modal dialogs built for hospital EHRs.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280160"/>
            <a:ext cx="5562295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55622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5331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TEAM RESPONSIBILITIES (HACKFEST EXECUTION)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• ML &amp; Pipeline Lead: </a:t>
            </a:r>
            <a:r>
              <a:rPr b="0" sz="950">
                <a:solidFill>
                  <a:srgbClr val="475569"/>
                </a:solidFill>
              </a:rPr>
              <a:t>Data quality auditing, 99th-percentile Winsorization, 3-model benchmark, and Fairlearn demographic disparity mitigation.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• LLM &amp; Explainability Lead: </a:t>
            </a:r>
            <a:r>
              <a:rPr b="0" sz="950">
                <a:solidFill>
                  <a:srgbClr val="475569"/>
                </a:solidFill>
              </a:rPr>
              <a:t>Groq API prompt engineering, local feature attribution, CP1252 unicode sanitization, and caching architecture.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• Full-Stack Clinical UX Lead: </a:t>
            </a:r>
            <a:r>
              <a:rPr b="0" sz="950">
                <a:solidFill>
                  <a:srgbClr val="475569"/>
                </a:solidFill>
              </a:rPr>
              <a:t>Streamlit design system, responsive patient queue, interactive bedside calculator, and clinical workflow validation.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886200"/>
            <a:ext cx="55622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886200"/>
            <a:ext cx="5562295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95935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HACKATHON PROTOTYPE BUILD ROADMAP (36-HOUR TIMELINE)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89120"/>
            <a:ext cx="52120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00 - 08: Data Ingestion &amp; Benchmark: </a:t>
            </a:r>
            <a:r>
              <a:rPr b="0" sz="950">
                <a:solidFill>
                  <a:srgbClr val="0F172A"/>
                </a:solidFill>
              </a:rPr>
              <a:t>UCI cleaning, 99% Winsorization, LogReg vs RF vs XGBoost benchmark.</a:t>
            </a:r>
          </a:p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08 - 18: Modeling &amp; Fairness Governance: </a:t>
            </a:r>
            <a:r>
              <a:rPr b="0" sz="950">
                <a:solidFill>
                  <a:srgbClr val="0F172A"/>
                </a:solidFill>
              </a:rPr>
              <a:t>XGBoost class weighting (scale_pos_weight), threshold tuning, Fairlearn audits.</a:t>
            </a:r>
          </a:p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18 - 28: Groq AI &amp; Clinical Dashboard: </a:t>
            </a:r>
            <a:r>
              <a:rPr b="0" sz="950">
                <a:solidFill>
                  <a:srgbClr val="0F172A"/>
                </a:solidFill>
              </a:rPr>
              <a:t>Groq API prompt engineering, encounter caching, high-density Streamlit build.</a:t>
            </a:r>
          </a:p>
          <a:p>
            <a:pPr>
              <a:spcAft>
                <a:spcPts val="700"/>
              </a:spcAft>
              <a:defRPr sz="1000" b="1">
                <a:solidFill>
                  <a:srgbClr val="2563EB"/>
                </a:solidFill>
              </a:defRPr>
            </a:pPr>
            <a:r>
              <a:t>• Hours 28 - 36: Hardening &amp; Verification: </a:t>
            </a:r>
            <a:r>
              <a:rPr b="0" sz="950">
                <a:solidFill>
                  <a:srgbClr val="0F172A"/>
                </a:solidFill>
              </a:rPr>
              <a:t>Edge-case stress testing, packaging live demo, compliance documentation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74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HACKFEST 2026 SCREENING ROUND | HEALTHCARE &amp; MEDTECH | SLIDE 06 OF 06</a:t>
            </a:r>
          </a:p>
          <a:p>
            <a:pPr>
              <a:spcBef>
                <a:spcPts val="100"/>
              </a:spcBef>
              <a:defRPr sz="1700" b="1">
                <a:solidFill>
                  <a:srgbClr val="0F172A"/>
                </a:solidFill>
              </a:defRPr>
            </a:pPr>
            <a:r>
              <a:t>Expected Outcomes &amp; Live Demo Plan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Working Prototype Deliverables, Success Metrics, Live Demonstration Flow, and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Project: ClinicalAI Decision Support | Domain: Healthcare &amp; MedTech | Team 8</a:t>
            </a:r>
            <a:r>
              <a:rPr b="1"/>
              <a:t>                                                                                                                  Slide 6 of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03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PLANNED DELIVERABLES &amp; QUANTIFIED SUCCESS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Working Hackathon Prototype</a:t>
            </a:r>
            <a:br/>
            <a:r>
              <a:rPr b="0" sz="950">
                <a:solidFill>
                  <a:srgbClr val="0F172A"/>
                </a:solidFill>
              </a:rPr>
              <a:t>   Result: Fully operational web application running locally on port 8501, evaluated on 20,354 real held-out patient encounters.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High Sensitivity (Recall = 59.45%)</a:t>
            </a:r>
            <a:br/>
            <a:r>
              <a:rPr b="0" sz="950">
                <a:solidFill>
                  <a:srgbClr val="0F172A"/>
                </a:solidFill>
              </a:rPr>
              <a:t>   Result: Captures ~60% of all 30-day readmissions at point of care (AUC-ROC: 0.6896, Brier Score: 0.177).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Verified Algorithmic Fairness</a:t>
            </a:r>
            <a:br/>
            <a:r>
              <a:rPr b="0" sz="950">
                <a:solidFill>
                  <a:srgbClr val="0F172A"/>
                </a:solidFill>
              </a:rPr>
              <a:t>   Result: Age TPR disparity slashed from 17.13% to 0.96%; Race TPR disparity reduced by 25.43%; Gender Demographic Parity Ratio at 94.24% (EEOC 4/5ths compliant).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Sub-Second Groq AI Reasoning</a:t>
            </a:r>
            <a:br/>
            <a:r>
              <a:rPr b="0" sz="950">
                <a:solidFill>
                  <a:srgbClr val="0F172A"/>
                </a:solidFill>
              </a:rPr>
              <a:t>   Result: Instantaneous 5-point clinical justification cards with persistent encounter caching.</a:t>
            </a:r>
          </a:p>
          <a:p>
            <a:pPr>
              <a:spcAft>
                <a:spcPts val="1100"/>
              </a:spcAft>
              <a:defRPr sz="1050" b="1">
                <a:solidFill>
                  <a:srgbClr val="2563EB"/>
                </a:solidFill>
              </a:defRPr>
            </a:pPr>
            <a:r>
              <a:t>• Operational Resource Allocation</a:t>
            </a:r>
            <a:br/>
            <a:r>
              <a:rPr b="0" sz="950">
                <a:solidFill>
                  <a:srgbClr val="0F172A"/>
                </a:solidFill>
              </a:rPr>
              <a:t>   Result: Automatic trigger logic for Pharmacist Bedside Recon, CDCES Referral, Home Health Nurse, and 48-Hour Telehealth Outreach.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280160"/>
            <a:ext cx="5562295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280160"/>
            <a:ext cx="55622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5331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WHAT THE LIVE DEMO WILL SHOW (PITCH SCRIPT)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1: Patient Worklist Queue: </a:t>
            </a:r>
            <a:r>
              <a:rPr b="0" sz="950">
                <a:solidFill>
                  <a:srgbClr val="475569"/>
                </a:solidFill>
              </a:rPr>
              <a:t>Filter 20,354 inpatient encounters by High/Moderate/Low risk tier and search encounter IDs.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2: Bedside Risk Simulation: </a:t>
            </a:r>
            <a:r>
              <a:rPr b="0" sz="950">
                <a:solidFill>
                  <a:srgbClr val="475569"/>
                </a:solidFill>
              </a:rPr>
              <a:t>Interactively adjust hospital stay (days), medications, and A1C levels; observe live gauge recalibration.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3: On-Demand Groq AI Modal: </a:t>
            </a:r>
            <a:r>
              <a:rPr b="0" sz="950">
                <a:solidFill>
                  <a:srgbClr val="475569"/>
                </a:solidFill>
              </a:rPr>
              <a:t>Click 'Review' on patient ENC-99195; showcase 5 parsed reasoning points &amp; XGBoost feature attribution.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</a:defRPr>
            </a:pPr>
            <a:r>
              <a:t>• Step 4: Clinical Governance Panel: </a:t>
            </a:r>
            <a:r>
              <a:rPr b="0" sz="950">
                <a:solidFill>
                  <a:srgbClr val="475569"/>
                </a:solidFill>
              </a:rPr>
              <a:t>Examine multi-model benchmark curves and audited demographic disparity reduction metrics.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886200"/>
            <a:ext cx="55622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886200"/>
            <a:ext cx="5562295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959352"/>
            <a:ext cx="52879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DEPENDENCIES, RISKS &amp; FUTURE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89120"/>
            <a:ext cx="52120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• Required Datasets &amp; Services: </a:t>
            </a:r>
            <a:r>
              <a:rPr b="0" sz="950">
                <a:solidFill>
                  <a:srgbClr val="0F172A"/>
                </a:solidFill>
              </a:rPr>
              <a:t>UCI 130-US Hospitals (Public, de-identified EHR; zero PHI risk) + Groq API Key (backed by deterministic fallback).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• Key Risks &amp; Mitigation: </a:t>
            </a:r>
            <a:r>
              <a:rPr b="0" sz="950">
                <a:solidFill>
                  <a:srgbClr val="0F172A"/>
                </a:solidFill>
              </a:rPr>
              <a:t>LLM rate limits or network drops mitigated via in-memory caching and clinical rule fallbacks; clinical drift monitored via governance dashboard.</a:t>
            </a:r>
          </a:p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• Hackathon vs. Future Scope: </a:t>
            </a:r>
            <a:r>
              <a:rPr b="0" sz="950">
                <a:solidFill>
                  <a:srgbClr val="0F172A"/>
                </a:solidFill>
              </a:rPr>
              <a:t>Hackathon delivers working standalone CDS prototype. Future roadmap expands to SMART-on-FHIR Epic/Cerner integration and prospective clinical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