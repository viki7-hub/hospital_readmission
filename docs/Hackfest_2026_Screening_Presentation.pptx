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1094415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20040"/>
            <a:ext cx="73152" cy="8412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47472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2563EB"/>
                </a:solidFill>
              </a:defRPr>
            </a:pPr>
            <a:r>
              <a:t>HACKFEST 2026 SCREENING ROUND | HEALTHCARE &amp; MEDTECH | SLIDE 01 OF 06</a:t>
            </a:r>
          </a:p>
          <a:p>
            <a:pPr>
              <a:spcBef>
                <a:spcPts val="100"/>
              </a:spcBef>
              <a:defRPr sz="1700" b="1">
                <a:solidFill>
                  <a:srgbClr val="0F172A"/>
                </a:solidFill>
              </a:defRPr>
            </a:pPr>
            <a:r>
              <a:t>Project Overview &amp; Problem Statement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</a:defRPr>
            </a:pPr>
            <a:r>
              <a:t>ClinicalAI: 30-Day Hospital Readmission Risk Prediction &amp; Intelligent Care Transition Decision 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37960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Project: ClinicalAI Decision Support | Domain: Healthcare &amp; MedTech | Team 8</a:t>
            </a:r>
            <a:r>
              <a:rPr b="1"/>
              <a:t>                                                                                                                  Slide 1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402336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80160"/>
            <a:ext cx="402336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53312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</a:defRPr>
            </a:pPr>
            <a:r>
              <a:t>PROJECT META &amp; TARGET STAKEHOLDERS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83080"/>
            <a:ext cx="365760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0F172A"/>
                </a:solidFill>
              </a:defRPr>
            </a:pPr>
            <a:r>
              <a:t>Selected Domain: </a:t>
            </a:r>
            <a:r>
              <a:rPr b="0">
                <a:solidFill>
                  <a:srgbClr val="475569"/>
                </a:solidFill>
              </a:rPr>
              <a:t>Healthcare &amp; MedTech / Clinical Decision Support (CDS)</a:t>
            </a:r>
          </a:p>
          <a:p>
            <a:pPr>
              <a:spcAft>
                <a:spcPts val="800"/>
              </a:spcAft>
              <a:defRPr sz="1050" b="1">
                <a:solidFill>
                  <a:srgbClr val="0F172A"/>
                </a:solidFill>
              </a:defRPr>
            </a:pPr>
            <a:r>
              <a:t>Project Title: </a:t>
            </a:r>
            <a:r>
              <a:rPr b="0">
                <a:solidFill>
                  <a:srgbClr val="475569"/>
                </a:solidFill>
              </a:rPr>
              <a:t>ClinicalAI - Hospital Readmission CDS</a:t>
            </a:r>
          </a:p>
          <a:p>
            <a:pPr>
              <a:spcAft>
                <a:spcPts val="800"/>
              </a:spcAft>
              <a:defRPr sz="1050" b="1">
                <a:solidFill>
                  <a:srgbClr val="0F172A"/>
                </a:solidFill>
              </a:defRPr>
            </a:pPr>
            <a:r>
              <a:t>Team Details: </a:t>
            </a:r>
            <a:r>
              <a:rPr b="0">
                <a:solidFill>
                  <a:srgbClr val="475569"/>
                </a:solidFill>
              </a:rPr>
              <a:t>Team 8 (Hospital AI Innovation Cohort)</a:t>
            </a:r>
          </a:p>
          <a:p>
            <a:pPr>
              <a:spcAft>
                <a:spcPts val="800"/>
              </a:spcAft>
              <a:defRPr sz="1050" b="1">
                <a:solidFill>
                  <a:srgbClr val="0F172A"/>
                </a:solidFill>
              </a:defRPr>
            </a:pPr>
            <a:r>
              <a:t>Data Foundation: </a:t>
            </a:r>
            <a:r>
              <a:rPr b="0">
                <a:solidFill>
                  <a:srgbClr val="475569"/>
                </a:solidFill>
              </a:rPr>
              <a:t>UCI 130-US Hospitals Diabetes Dataset (101,766 Inpatient Encounters over 10 Years)</a:t>
            </a:r>
          </a:p>
          <a:p>
            <a:pPr>
              <a:spcAft>
                <a:spcPts val="800"/>
              </a:spcAft>
              <a:defRPr sz="1050" b="1">
                <a:solidFill>
                  <a:srgbClr val="0F172A"/>
                </a:solidFill>
              </a:defRPr>
            </a:pPr>
            <a:r>
              <a:t>Clinical Focus: </a:t>
            </a:r>
            <a:r>
              <a:rPr b="0">
                <a:solidFill>
                  <a:srgbClr val="475569"/>
                </a:solidFill>
              </a:rPr>
              <a:t>Diabetic Inpatients with Multimorbidity &amp; Polypharmacy</a:t>
            </a:r>
          </a:p>
          <a:p>
            <a:pPr>
              <a:spcAft>
                <a:spcPts val="800"/>
              </a:spcAft>
              <a:defRPr sz="1050" b="1">
                <a:solidFill>
                  <a:srgbClr val="0F172A"/>
                </a:solidFill>
              </a:defRPr>
            </a:pPr>
            <a:r>
              <a:t>Target End-Users: </a:t>
            </a:r>
          </a:p>
          <a:p>
            <a:pPr>
              <a:spcAft>
                <a:spcPts val="500"/>
              </a:spcAft>
              <a:defRPr sz="950" b="1">
                <a:solidFill>
                  <a:srgbClr val="2563EB"/>
                </a:solidFill>
              </a:defRPr>
            </a:pPr>
            <a:r>
              <a:t>• Discharge Planners: </a:t>
            </a:r>
            <a:r>
              <a:rPr b="0">
                <a:solidFill>
                  <a:srgbClr val="475569"/>
                </a:solidFill>
              </a:rPr>
              <a:t>Triage and coordinate post-acute transition plans.</a:t>
            </a:r>
          </a:p>
          <a:p>
            <a:pPr>
              <a:spcAft>
                <a:spcPts val="500"/>
              </a:spcAft>
              <a:defRPr sz="950" b="1">
                <a:solidFill>
                  <a:srgbClr val="2563EB"/>
                </a:solidFill>
              </a:defRPr>
            </a:pPr>
            <a:r>
              <a:t>• Attending Physicians: </a:t>
            </a:r>
            <a:r>
              <a:rPr b="0">
                <a:solidFill>
                  <a:srgbClr val="475569"/>
                </a:solidFill>
              </a:rPr>
              <a:t>Review clinical AI rationale and sign off on care orders.</a:t>
            </a:r>
          </a:p>
          <a:p>
            <a:pPr>
              <a:spcAft>
                <a:spcPts val="500"/>
              </a:spcAft>
              <a:defRPr sz="950" b="1">
                <a:solidFill>
                  <a:srgbClr val="2563EB"/>
                </a:solidFill>
              </a:defRPr>
            </a:pPr>
            <a:r>
              <a:t>• Clinical Pharmacists: </a:t>
            </a:r>
            <a:r>
              <a:rPr b="0">
                <a:solidFill>
                  <a:srgbClr val="475569"/>
                </a:solidFill>
              </a:rPr>
              <a:t>Reconcile high-risk polypharmacy medication regimens.</a:t>
            </a:r>
          </a:p>
          <a:p>
            <a:pPr>
              <a:spcAft>
                <a:spcPts val="500"/>
              </a:spcAft>
              <a:defRPr sz="950" b="1">
                <a:solidFill>
                  <a:srgbClr val="2563EB"/>
                </a:solidFill>
              </a:defRPr>
            </a:pPr>
            <a:r>
              <a:t>• Post-Acute Telehealth: </a:t>
            </a:r>
            <a:r>
              <a:rPr b="0">
                <a:solidFill>
                  <a:srgbClr val="475569"/>
                </a:solidFill>
              </a:rPr>
              <a:t>Prioritize 48-hour post-discharge patient outreach.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280160"/>
            <a:ext cx="6888175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0" y="1280160"/>
            <a:ext cx="6888175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1353312"/>
            <a:ext cx="6613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</a:defRPr>
            </a:pPr>
            <a:r>
              <a:t>THE PROBLEM: A $26B AVOIDABLE HEALTHCARE CRISIS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1783080"/>
            <a:ext cx="649224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000">
                <a:solidFill>
                  <a:srgbClr val="DC2626"/>
                </a:solidFill>
              </a:rPr>
              <a:t>[FINANCIAL CRISIS] </a:t>
            </a:r>
            <a:r>
              <a:rPr sz="1000">
                <a:solidFill>
                  <a:srgbClr val="0F172A"/>
                </a:solidFill>
              </a:rPr>
              <a:t>Unplanned 30-day hospital readmissions exceed $26 Billion annually in avoidable medical costs across US and global health systems.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DC2626"/>
                </a:solidFill>
              </a:rPr>
              <a:t>[PUNITIVE HRRP PENALTIES] </a:t>
            </a:r>
            <a:r>
              <a:rPr sz="1000">
                <a:solidFill>
                  <a:srgbClr val="0F172A"/>
                </a:solidFill>
              </a:rPr>
              <a:t>Under CMS Hospital Readmissions Reduction Program, hospitals face direct Medicare reimbursement forfeitures (up to 3% penalty) for excess readmissions.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2563EB"/>
                </a:solidFill>
              </a:rPr>
              <a:t>[COMPLEX COMORBIDITY RELAPSE] </a:t>
            </a:r>
            <a:r>
              <a:rPr sz="1000">
                <a:solidFill>
                  <a:srgbClr val="0F172A"/>
                </a:solidFill>
              </a:rPr>
              <a:t>Diabetic inpatients face extreme vulnerability: 79.0% have &gt;=10 distinct medications administered during their stay, compounding metabolic and cardiovascular relapse risk.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2563EB"/>
                </a:solidFill>
              </a:rPr>
              <a:t>[SUBJECTIVE MANUAL TRIAGE] </a:t>
            </a:r>
            <a:r>
              <a:rPr sz="1000">
                <a:solidFill>
                  <a:srgbClr val="0F172A"/>
                </a:solidFill>
              </a:rPr>
              <a:t>Current discharge planning relies on subjective intuition or retrospective paper notes, missing over 45% of preventable readmission candidates.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4251960"/>
            <a:ext cx="6888175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54880" y="4251960"/>
            <a:ext cx="6888175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4325112"/>
            <a:ext cx="6613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</a:defRPr>
            </a:pPr>
            <a:r>
              <a:t>KEY CHALLENGE METRICS ADDRESSED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4709160"/>
            <a:ext cx="201168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4800600"/>
            <a:ext cx="1828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11.16%</a:t>
            </a:r>
          </a:p>
          <a:p>
            <a:pPr>
              <a:spcBef>
                <a:spcPts val="200"/>
              </a:spcBef>
              <a:defRPr sz="1000" b="1">
                <a:solidFill>
                  <a:srgbClr val="0F172A"/>
                </a:solidFill>
              </a:defRPr>
            </a:pPr>
            <a:r>
              <a:t>Actual Readmissions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</a:defRPr>
            </a:pPr>
            <a:r>
              <a:t>Ground truth 30-day readmissions across 101,766 diabetic patient encounters.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14032" y="4709160"/>
            <a:ext cx="201168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5472" y="4800600"/>
            <a:ext cx="1828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DC2626"/>
                </a:solidFill>
              </a:defRPr>
            </a:pPr>
            <a:r>
              <a:t>79.00%</a:t>
            </a:r>
          </a:p>
          <a:p>
            <a:pPr>
              <a:spcBef>
                <a:spcPts val="200"/>
              </a:spcBef>
              <a:defRPr sz="1000" b="1">
                <a:solidFill>
                  <a:srgbClr val="0F172A"/>
                </a:solidFill>
              </a:defRPr>
            </a:pPr>
            <a:r>
              <a:t>High Medication Intensity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</a:defRPr>
            </a:pPr>
            <a:r>
              <a:t>Inpatients receiving &gt;=10 distinct medications during stay (79% of sample).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90304" y="4709160"/>
            <a:ext cx="2011680" cy="15544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81744" y="4800600"/>
            <a:ext cx="1828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59.45%</a:t>
            </a:r>
          </a:p>
          <a:p>
            <a:pPr>
              <a:spcBef>
                <a:spcPts val="200"/>
              </a:spcBef>
              <a:defRPr sz="1000" b="1">
                <a:solidFill>
                  <a:srgbClr val="0F172A"/>
                </a:solidFill>
              </a:defRPr>
            </a:pPr>
            <a:r>
              <a:t>Targeted ML Sensitivity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</a:defRPr>
            </a:pPr>
            <a:r>
              <a:t>Prioritizing recall over accuracy to catch ~60% of all readmissions at point of care.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1094415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20040"/>
            <a:ext cx="73152" cy="8412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47472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2563EB"/>
                </a:solidFill>
              </a:defRPr>
            </a:pPr>
            <a:r>
              <a:t>HACKFEST 2026 SCREENING ROUND | HEALTHCARE &amp; MEDTECH | SLIDE 02 OF 06</a:t>
            </a:r>
          </a:p>
          <a:p>
            <a:pPr>
              <a:spcBef>
                <a:spcPts val="100"/>
              </a:spcBef>
              <a:defRPr sz="1700" b="1">
                <a:solidFill>
                  <a:srgbClr val="0F172A"/>
                </a:solidFill>
              </a:defRPr>
            </a:pPr>
            <a:r>
              <a:t>Proposed Solution &amp; Core Objectives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</a:defRPr>
            </a:pPr>
            <a:r>
              <a:t>Explainable Clinical Decision Support System with Real-Time Risk Stratification &amp; Targeted Care Bundles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37960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Project: ClinicalAI Decision Support | Domain: Healthcare &amp; MedTech | Team 8</a:t>
            </a:r>
            <a:r>
              <a:rPr b="1"/>
              <a:t>                                                                                                                  Slide 2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1109441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53312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THE PROPOSAL: BEDSIDE PREDICTIVE CDS WITH ON-DEMAND CLINICAL AI REASONING</a:t>
            </a:r>
          </a:p>
          <a:p>
            <a:pPr>
              <a:spcBef>
                <a:spcPts val="300"/>
              </a:spcBef>
              <a:defRPr sz="1000">
                <a:solidFill>
                  <a:srgbClr val="F1F5F9"/>
                </a:solidFill>
              </a:defRPr>
            </a:pPr>
            <a:r>
              <a:t>An end-to-end clinical intelligence suite pairing calibrated gradient boosting (XGBoost) with ultra-fast LLM reasoning (Groq: openai/gpt-oss-120b). It continuously evaluates inpatient EHR records, stratifies 30-day readmission risk, synthesizes 5-point actionable clinical rationale, and prescribes targeted care transition orders before discharge.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68880"/>
            <a:ext cx="3596335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468880"/>
            <a:ext cx="3596335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42032"/>
            <a:ext cx="33220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</a:defRPr>
            </a:pPr>
            <a:r>
              <a:t>1. KEY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71800"/>
            <a:ext cx="332201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50" b="1">
                <a:solidFill>
                  <a:srgbClr val="0F172A"/>
                </a:solidFill>
              </a:defRPr>
            </a:pPr>
            <a:r>
              <a:t>• Recall-First Clinical Tuning</a:t>
            </a:r>
            <a:br/>
            <a:r>
              <a:rPr b="0" sz="950">
                <a:solidFill>
                  <a:srgbClr val="475569"/>
                </a:solidFill>
              </a:rPr>
              <a:t>Prioritize sensitivity (&gt;=59%) over raw accuracy to catch high-risk relapsing patients before discharge rather than optimizing for aggregate accuracy.</a:t>
            </a:r>
          </a:p>
          <a:p>
            <a:pPr>
              <a:spcAft>
                <a:spcPts val="1000"/>
              </a:spcAft>
              <a:defRPr sz="1050" b="1">
                <a:solidFill>
                  <a:srgbClr val="0F172A"/>
                </a:solidFill>
              </a:defRPr>
            </a:pPr>
            <a:r>
              <a:t>• Explainable AI Decisions</a:t>
            </a:r>
            <a:br/>
            <a:r>
              <a:rPr b="0" sz="950">
                <a:solidFill>
                  <a:srgbClr val="475569"/>
                </a:solidFill>
              </a:rPr>
              <a:t>Eliminate physician black-box skepticism via local directional feature attribution and narrative clinical justification.</a:t>
            </a:r>
          </a:p>
          <a:p>
            <a:pPr>
              <a:spcAft>
                <a:spcPts val="1000"/>
              </a:spcAft>
              <a:defRPr sz="1050" b="1">
                <a:solidFill>
                  <a:srgbClr val="0F172A"/>
                </a:solidFill>
              </a:defRPr>
            </a:pPr>
            <a:r>
              <a:t>• Demographic Parity Governance</a:t>
            </a:r>
            <a:br/>
            <a:r>
              <a:rPr b="0" sz="950">
                <a:solidFill>
                  <a:srgbClr val="475569"/>
                </a:solidFill>
              </a:rPr>
              <a:t>Ensure ethical equity and equalized opportunity across Age, Race, and Gender protected cohorts via active disparity audits.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5897880"/>
            <a:ext cx="3322015" cy="36576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t>METRIC: 59.45% RECALL TARGET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79" y="2468880"/>
            <a:ext cx="3596335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79" y="2468880"/>
            <a:ext cx="3596335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2542032"/>
            <a:ext cx="33220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</a:defRPr>
            </a:pPr>
            <a:r>
              <a:t>2. CORE CAPABILITIES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971800"/>
            <a:ext cx="332201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50" b="1">
                <a:solidFill>
                  <a:srgbClr val="0F172A"/>
                </a:solidFill>
              </a:defRPr>
            </a:pPr>
            <a:r>
              <a:t>• Discharge Readiness Worklist</a:t>
            </a:r>
            <a:br/>
            <a:r>
              <a:rPr b="0" sz="950">
                <a:solidFill>
                  <a:srgbClr val="475569"/>
                </a:solidFill>
              </a:rPr>
              <a:t>High-density queue displaying real-time patient risk tiers, biomarker flags, and automated protocol recommendations.</a:t>
            </a:r>
          </a:p>
          <a:p>
            <a:pPr>
              <a:spcAft>
                <a:spcPts val="1000"/>
              </a:spcAft>
              <a:defRPr sz="1050" b="1">
                <a:solidFill>
                  <a:srgbClr val="0F172A"/>
                </a:solidFill>
              </a:defRPr>
            </a:pPr>
            <a:r>
              <a:t>• Bedside Simulation Engine</a:t>
            </a:r>
            <a:br/>
            <a:r>
              <a:rPr b="0" sz="950">
                <a:solidFill>
                  <a:srgbClr val="475569"/>
                </a:solidFill>
              </a:rPr>
              <a:t>Interactive parameter sliders allowing clinicians to adjust stay duration, meds, and A1C to model post-discharge trajectories in real-time.</a:t>
            </a:r>
          </a:p>
          <a:p>
            <a:pPr>
              <a:spcAft>
                <a:spcPts val="1000"/>
              </a:spcAft>
              <a:defRPr sz="1050" b="1">
                <a:solidFill>
                  <a:srgbClr val="0F172A"/>
                </a:solidFill>
              </a:defRPr>
            </a:pPr>
            <a:r>
              <a:t>• On-Demand Groq AI Modal</a:t>
            </a:r>
            <a:br/>
            <a:r>
              <a:rPr b="0" sz="950">
                <a:solidFill>
                  <a:srgbClr val="475569"/>
                </a:solidFill>
              </a:rPr>
              <a:t>Sub-second synthesis of exactly 5 structured clinical points validating discharge or discharge-delay decisions.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840" y="5897880"/>
            <a:ext cx="3322015" cy="36576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FEATURE: SUB-SECOND GROQ MODAL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19" y="2468880"/>
            <a:ext cx="3596335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19" y="2468880"/>
            <a:ext cx="3596335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2542032"/>
            <a:ext cx="33220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</a:defRPr>
            </a:pPr>
            <a:r>
              <a:t>3. MEASURABLE BENEFITS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2971800"/>
            <a:ext cx="332201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50" b="1">
                <a:solidFill>
                  <a:srgbClr val="0F172A"/>
                </a:solidFill>
              </a:defRPr>
            </a:pPr>
            <a:r>
              <a:t>• HRRP Penalty Avoidance</a:t>
            </a:r>
            <a:br/>
            <a:r>
              <a:rPr b="0" sz="950">
                <a:solidFill>
                  <a:srgbClr val="475569"/>
                </a:solidFill>
              </a:rPr>
              <a:t>Directly lowers avoidable 30-day readmissions, protecting hospital operating margins and Medicare reimbursement compliance.</a:t>
            </a:r>
          </a:p>
          <a:p>
            <a:pPr>
              <a:spcAft>
                <a:spcPts val="1000"/>
              </a:spcAft>
              <a:defRPr sz="1050" b="1">
                <a:solidFill>
                  <a:srgbClr val="0F172A"/>
                </a:solidFill>
              </a:defRPr>
            </a:pPr>
            <a:r>
              <a:t>• Targeted Resource Allocation</a:t>
            </a:r>
            <a:br/>
            <a:r>
              <a:rPr b="0" sz="950">
                <a:solidFill>
                  <a:srgbClr val="475569"/>
                </a:solidFill>
              </a:rPr>
              <a:t>Dispatches high-cost protocols (PharmD Bedside Recon, Home Health) only to patients with verified clinical need.</a:t>
            </a:r>
          </a:p>
          <a:p>
            <a:pPr>
              <a:spcAft>
                <a:spcPts val="1000"/>
              </a:spcAft>
              <a:defRPr sz="1050" b="1">
                <a:solidFill>
                  <a:srgbClr val="0F172A"/>
                </a:solidFill>
              </a:defRPr>
            </a:pPr>
            <a:r>
              <a:t>• Physician Trust &amp; Workflow Fit</a:t>
            </a:r>
            <a:br/>
            <a:r>
              <a:rPr b="0" sz="950">
                <a:solidFill>
                  <a:srgbClr val="475569"/>
                </a:solidFill>
              </a:rPr>
              <a:t>High-density clinical slate UI built to authentic EHR hospital standards without distracting clutter.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83879" y="5897880"/>
            <a:ext cx="3322015" cy="365760"/>
          </a:xfrm>
          <a:prstGeom prst="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ROI: MILLIONS SAVED IN PENALTIES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1094415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20040"/>
            <a:ext cx="73152" cy="8412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47472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2563EB"/>
                </a:solidFill>
              </a:defRPr>
            </a:pPr>
            <a:r>
              <a:t>HACKFEST 2026 SCREENING ROUND | HEALTHCARE &amp; MEDTECH | SLIDE 03 OF 06</a:t>
            </a:r>
          </a:p>
          <a:p>
            <a:pPr>
              <a:spcBef>
                <a:spcPts val="100"/>
              </a:spcBef>
              <a:defRPr sz="1700" b="1">
                <a:solidFill>
                  <a:srgbClr val="0F172A"/>
                </a:solidFill>
              </a:defRPr>
            </a:pPr>
            <a:r>
              <a:t>Innovation &amp; Existing Alternatives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</a:defRPr>
            </a:pPr>
            <a:r>
              <a:t>Structured Comparison Matrix and the Four Core Technological Differentiators of ClinicalAI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37960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Project: ClinicalAI Decision Support | Domain: Healthcare &amp; MedTech | Team 8</a:t>
            </a:r>
            <a:r>
              <a:rPr b="1"/>
              <a:t>                                                                                                                  Slide 3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11094415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80160"/>
            <a:ext cx="11094415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5331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</a:defRPr>
            </a:pPr>
            <a:r>
              <a:t>COMPETITIVE ARCHITECTURE COMPARISON MATRIX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1737360"/>
          <a:ext cx="10820095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2743200"/>
                <a:gridCol w="3322015"/>
              </a:tblGrid>
              <a:tr h="4800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Evaluation Dimension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Static Scores (LACE / HOSPITAL)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Standard Commercial EHR ML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ClinicalAI (Our Solution)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Clinical Feature Depth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4-6 static tally variables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Tabular ML without clinical 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45+ clinical biomarkers, meds, and diagnoses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Recall / Sensitivity Focus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Uncalibrated / Arbitrary cutoffs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Low recall (optimizes for overall AUC)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High sensitivity (59.45%, scale_pos_weight=7.96)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Explainability &amp; Reasoning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None (opaque single integer)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Global feature charts only (no narrative)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Hybrid: Local Feature Impact + 5-Point Groq AI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Actionable Care Directives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Score only (no care pathway)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Score only (no protocol linkage)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Prescribes targeted bundles (PharmD, Telehealth)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Algorithmic Fairness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Completely ignored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Unmonitored demographic bias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Built-in Fairlearn parity audits; Age disparity &lt; 1%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48640" y="489204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4983480"/>
            <a:ext cx="2432304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DUAL-LAYER INFERENCE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Couples calibrated XGBoost tabular scoring with sub-second on-demand Groq LLM (gpt-oss-120b) clinical reasoning.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64992" y="489204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4983480"/>
            <a:ext cx="2432304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RECALL-FIRST FOCUS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Configured with scale_pos_weight=7.96 catching ~60% of all readmissions at point of care, preventing fatal misses.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1344" y="489204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4983480"/>
            <a:ext cx="2432304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AUDITED PARITY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Age TPR disparity reduced from 17.13% to 0.96%; 94.24% Gender Demographic Parity (EEOC 4/5ths compliant).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7696" y="489204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07424" y="4983480"/>
            <a:ext cx="2432304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ACTIONABLE DIRECTIVES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Directly prescribes Pharmacist Bedside Recon, CDCES Referral, Home Health Nurse, and 48h Telehealth Outreach.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1094415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20040"/>
            <a:ext cx="73152" cy="8412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47472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2563EB"/>
                </a:solidFill>
              </a:defRPr>
            </a:pPr>
            <a:r>
              <a:t>HACKFEST 2026 SCREENING ROUND | HEALTHCARE &amp; MEDTECH | SLIDE 04 OF 06</a:t>
            </a:r>
          </a:p>
          <a:p>
            <a:pPr>
              <a:spcBef>
                <a:spcPts val="100"/>
              </a:spcBef>
              <a:defRPr sz="1700" b="1">
                <a:solidFill>
                  <a:srgbClr val="0F172A"/>
                </a:solidFill>
              </a:defRPr>
            </a:pPr>
            <a:r>
              <a:t>System Architecture &amp; Clinical Workflow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</a:defRPr>
            </a:pPr>
            <a:r>
              <a:t>Labelled Pipeline from Inpatient EHR Ingestion to Point-of-Care Bedside Decision 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37960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Project: ClinicalAI Decision Support | Domain: Healthcare &amp; MedTech | Team 8</a:t>
            </a:r>
            <a:r>
              <a:rPr b="1"/>
              <a:t>                                                                                                                  Slide 4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80160"/>
            <a:ext cx="265176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5331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</a:defRPr>
            </a:pPr>
            <a:r>
              <a:t>1. DATA &amp;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37360"/>
            <a:ext cx="242316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t>• UCI EHR Dataset: </a:t>
            </a:r>
            <a:r>
              <a:rPr b="0" sz="900">
                <a:solidFill>
                  <a:srgbClr val="475569"/>
                </a:solidFill>
              </a:rPr>
              <a:t>101,766 inpatient encounters across 10 years of hospital care.</a:t>
            </a:r>
          </a:p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t>• Missing Imputation: </a:t>
            </a:r>
            <a:r>
              <a:rPr b="0" sz="900">
                <a:solidFill>
                  <a:srgbClr val="475569"/>
                </a:solidFill>
              </a:rPr>
              <a:t>Clinically sound imputation for weight, payer code, and medical specialty.</a:t>
            </a:r>
          </a:p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t>• Outlier Winsorization: </a:t>
            </a:r>
            <a:r>
              <a:rPr b="0" sz="900">
                <a:solidFill>
                  <a:srgbClr val="475569"/>
                </a:solidFill>
              </a:rPr>
              <a:t>99th percentile capping on acute visits to prevent extreme skew.</a:t>
            </a:r>
          </a:p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t>• Feature Engineering: </a:t>
            </a:r>
            <a:r>
              <a:rPr b="0" sz="900">
                <a:solidFill>
                  <a:srgbClr val="475569"/>
                </a:solidFill>
              </a:rPr>
              <a:t>Polypharmacy flags, admission velocity, and glycemic control tiering.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4992" y="128016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4992" y="1280160"/>
            <a:ext cx="265176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2152" y="135331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</a:defRPr>
            </a:pPr>
            <a:r>
              <a:t>2. MODEL &amp; FAIRNESS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737360"/>
            <a:ext cx="242316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t>• Scikit-Learn Pipeline: </a:t>
            </a:r>
            <a:r>
              <a:rPr b="0" sz="900">
                <a:solidFill>
                  <a:srgbClr val="475569"/>
                </a:solidFill>
              </a:rPr>
              <a:t>Leakage-free OneHotEncoder + RobustScaler preprocessing transformation.</a:t>
            </a:r>
          </a:p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t>• XGBoost Classifier: </a:t>
            </a:r>
            <a:r>
              <a:rPr b="0" sz="900">
                <a:solidFill>
                  <a:srgbClr val="475569"/>
                </a:solidFill>
              </a:rPr>
              <a:t>Configured with scale_pos_weight=7.96 for severe class imbalance handling.</a:t>
            </a:r>
          </a:p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t>• Model Benchmark: </a:t>
            </a:r>
            <a:r>
              <a:rPr b="0" sz="900">
                <a:solidFill>
                  <a:srgbClr val="475569"/>
                </a:solidFill>
              </a:rPr>
              <a:t>Evaluated against Logistic Regression &amp; Random Forest (AUC: 0.6896, Sens: 59.45%).</a:t>
            </a:r>
          </a:p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t>• Fairlearn Governance: </a:t>
            </a:r>
            <a:r>
              <a:rPr b="0" sz="900">
                <a:solidFill>
                  <a:srgbClr val="475569"/>
                </a:solidFill>
              </a:rPr>
              <a:t>Active parity auditing reducing Age TPR disparity from 17.13% to 0.96%.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1344" y="128016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1280160"/>
            <a:ext cx="2651760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4" y="135331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</a:defRPr>
            </a:pPr>
            <a:r>
              <a:t>3. EXPLAINABILITY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1737360"/>
            <a:ext cx="242316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t>• Directional Attributions: </a:t>
            </a:r>
            <a:r>
              <a:rPr b="0" sz="900">
                <a:solidFill>
                  <a:srgbClr val="475569"/>
                </a:solidFill>
              </a:rPr>
              <a:t>Local horizontal feature attribution bar chart displaying top risk drivers.</a:t>
            </a:r>
          </a:p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t>• Groq Cloud API: </a:t>
            </a:r>
            <a:r>
              <a:rPr b="0" sz="900">
                <a:solidFill>
                  <a:srgbClr val="475569"/>
                </a:solidFill>
              </a:rPr>
              <a:t>Ultra-fast inference via openai/gpt-oss-120b responding in sub-second time.</a:t>
            </a:r>
          </a:p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t>• 5 Clinical Points: </a:t>
            </a:r>
            <a:r>
              <a:rPr b="0" sz="900">
                <a:solidFill>
                  <a:srgbClr val="475569"/>
                </a:solidFill>
              </a:rPr>
              <a:t>Synthesizes stabilization, polypharmacy, A1C, utilization, and post-acute needs.</a:t>
            </a:r>
          </a:p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t>• Encounter Caching: </a:t>
            </a:r>
            <a:r>
              <a:rPr b="0" sz="900">
                <a:solidFill>
                  <a:srgbClr val="475569"/>
                </a:solidFill>
              </a:rPr>
              <a:t>@st.cache_data prevents redundant LLM calls and guarantees zero doctor lag.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97696" y="128016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97696" y="1280160"/>
            <a:ext cx="265176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34856" y="135331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</a:defRPr>
            </a:pPr>
            <a:r>
              <a:t>4. CLINICAL SLATE 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7424" y="1737360"/>
            <a:ext cx="242316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t>• Discharge Worklist: </a:t>
            </a:r>
            <a:r>
              <a:rPr b="0" sz="900">
                <a:solidFill>
                  <a:srgbClr val="475569"/>
                </a:solidFill>
              </a:rPr>
              <a:t>High-density queue with risk tier filters, ID search, and biomarker flags.</a:t>
            </a:r>
          </a:p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t>• Bedside Calculator: </a:t>
            </a:r>
            <a:r>
              <a:rPr b="0" sz="900">
                <a:solidFill>
                  <a:srgbClr val="475569"/>
                </a:solidFill>
              </a:rPr>
              <a:t>Live slider simulation adjusting stay duration, active meds, and A1C in real-time.</a:t>
            </a:r>
          </a:p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t>• Modal Dialog: </a:t>
            </a:r>
            <a:r>
              <a:rPr b="0" sz="900">
                <a:solidFill>
                  <a:srgbClr val="475569"/>
                </a:solidFill>
              </a:rPr>
              <a:t>Single-click review popup with order authorization and care team dispatch.</a:t>
            </a:r>
          </a:p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t>• Zero Bloat Design: </a:t>
            </a:r>
            <a:r>
              <a:rPr b="0" sz="900">
                <a:solidFill>
                  <a:srgbClr val="475569"/>
                </a:solidFill>
              </a:rPr>
              <a:t>Space-optimized, clinical slate layout built to authentic hospital standards.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800600"/>
            <a:ext cx="11094415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800600"/>
            <a:ext cx="11094415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87375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</a:defRPr>
            </a:pPr>
            <a:r>
              <a:t>END-TO-END CLINICAL USER WORKFLOW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5257800"/>
            <a:ext cx="2011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5321808"/>
            <a:ext cx="187451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Step 1: EHR Intake</a:t>
            </a:r>
          </a:p>
          <a:p>
            <a:pPr>
              <a:spcBef>
                <a:spcPts val="300"/>
              </a:spcBef>
              <a:defRPr sz="850">
                <a:solidFill>
                  <a:srgbClr val="475569"/>
                </a:solidFill>
              </a:defRPr>
            </a:pPr>
            <a:r>
              <a:t>Patient admitted &amp; vitals recorded in EHR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62072" y="5257800"/>
            <a:ext cx="2011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26079" y="5321808"/>
            <a:ext cx="187451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Step 2: Predictive Scoring</a:t>
            </a:r>
          </a:p>
          <a:p>
            <a:pPr>
              <a:spcBef>
                <a:spcPts val="300"/>
              </a:spcBef>
              <a:defRPr sz="850">
                <a:solidFill>
                  <a:srgbClr val="475569"/>
                </a:solidFill>
              </a:defRPr>
            </a:pPr>
            <a:r>
              <a:t>XGBoost calculates calibrated readmission risk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38344" y="5257800"/>
            <a:ext cx="2011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02352" y="5321808"/>
            <a:ext cx="187451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Step 3: Worklist Flag</a:t>
            </a:r>
          </a:p>
          <a:p>
            <a:pPr>
              <a:spcBef>
                <a:spcPts val="300"/>
              </a:spcBef>
              <a:defRPr sz="850">
                <a:solidFill>
                  <a:srgbClr val="475569"/>
                </a:solidFill>
              </a:defRPr>
            </a:pPr>
            <a:r>
              <a:t>High-Risk patient prioritized on care dashboard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14616" y="5257800"/>
            <a:ext cx="2011680" cy="10515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78624" y="5321808"/>
            <a:ext cx="187451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Step 4: AI Consultation</a:t>
            </a:r>
          </a:p>
          <a:p>
            <a:pPr>
              <a:spcBef>
                <a:spcPts val="300"/>
              </a:spcBef>
              <a:defRPr sz="850">
                <a:solidFill>
                  <a:srgbClr val="475569"/>
                </a:solidFill>
              </a:defRPr>
            </a:pPr>
            <a:r>
              <a:t>Doctor clicks Review; Groq outputs 5 points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90888" y="5257800"/>
            <a:ext cx="2011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54896" y="5321808"/>
            <a:ext cx="187451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Step 5: Protocol Dispatch</a:t>
            </a:r>
          </a:p>
          <a:p>
            <a:pPr>
              <a:spcBef>
                <a:spcPts val="300"/>
              </a:spcBef>
              <a:defRPr sz="850">
                <a:solidFill>
                  <a:srgbClr val="475569"/>
                </a:solidFill>
              </a:defRPr>
            </a:pPr>
            <a:r>
              <a:t>Bedside PharmD &amp; Telehealth orders executed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1094415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20040"/>
            <a:ext cx="73152" cy="8412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47472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2563EB"/>
                </a:solidFill>
              </a:defRPr>
            </a:pPr>
            <a:r>
              <a:t>HACKFEST 2026 SCREENING ROUND | HEALTHCARE &amp; MEDTECH | SLIDE 05 OF 06</a:t>
            </a:r>
          </a:p>
          <a:p>
            <a:pPr>
              <a:spcBef>
                <a:spcPts val="100"/>
              </a:spcBef>
              <a:defRPr sz="1700" b="1">
                <a:solidFill>
                  <a:srgbClr val="0F172A"/>
                </a:solidFill>
              </a:defRPr>
            </a:pPr>
            <a:r>
              <a:t>Technology Stack &amp; Implementation Plan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</a:defRPr>
            </a:pPr>
            <a:r>
              <a:t>Architectural Rationale, Team Division of Responsibilities, and Prototype Build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37960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Project: ClinicalAI Decision Support | Domain: Healthcare &amp; MedTech | Team 8</a:t>
            </a:r>
            <a:r>
              <a:rPr b="1"/>
              <a:t>                                                                                                                  Slide 5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530352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80160"/>
            <a:ext cx="530352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5331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</a:defRPr>
            </a:pPr>
            <a:r>
              <a:t>PROPOSED TECHNOLOGY STACK &amp; JUSTIFICATION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83080"/>
            <a:ext cx="49377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50" b="1">
                <a:solidFill>
                  <a:srgbClr val="2563EB"/>
                </a:solidFill>
              </a:defRPr>
            </a:pPr>
            <a:r>
              <a:t>• Python 3.11+ / Scikit-Learn Pipeline</a:t>
            </a:r>
            <a:br/>
            <a:r>
              <a:rPr b="0" sz="950">
                <a:solidFill>
                  <a:srgbClr val="0F172A"/>
                </a:solidFill>
              </a:rPr>
              <a:t>   Suitability: Core data science runtime. Provides leakage-free preprocessor serialization, robust scaling, and stratified cross-validation for clinical reproducibility.</a:t>
            </a:r>
          </a:p>
          <a:p>
            <a:pPr>
              <a:spcAft>
                <a:spcPts val="1100"/>
              </a:spcAft>
              <a:defRPr sz="1050" b="1">
                <a:solidFill>
                  <a:srgbClr val="2563EB"/>
                </a:solidFill>
              </a:defRPr>
            </a:pPr>
            <a:r>
              <a:t>• XGBoost 1.7+ Tabular Classifier</a:t>
            </a:r>
            <a:br/>
            <a:r>
              <a:rPr b="0" sz="950">
                <a:solidFill>
                  <a:srgbClr val="0F172A"/>
                </a:solidFill>
              </a:rPr>
              <a:t>   Suitability: Superior non-linear tabular handling, handles sparse medical codes, native scale_pos_weight class balancing, and sub-15ms inference latency.</a:t>
            </a:r>
          </a:p>
          <a:p>
            <a:pPr>
              <a:spcAft>
                <a:spcPts val="1100"/>
              </a:spcAft>
              <a:defRPr sz="1050" b="1">
                <a:solidFill>
                  <a:srgbClr val="2563EB"/>
                </a:solidFill>
              </a:defRPr>
            </a:pPr>
            <a:r>
              <a:t>• Groq Cloud API (openai/gpt-oss-120b)</a:t>
            </a:r>
            <a:br/>
            <a:r>
              <a:rPr b="0" sz="950">
                <a:solidFill>
                  <a:srgbClr val="0F172A"/>
                </a:solidFill>
              </a:rPr>
              <a:t>   Suitability: Delivers sub-second LPU inference for bedside doctor consultation modals, generating strict 5-point clinical reasoning without doctor waiting.</a:t>
            </a:r>
          </a:p>
          <a:p>
            <a:pPr>
              <a:spcAft>
                <a:spcPts val="1100"/>
              </a:spcAft>
              <a:defRPr sz="1050" b="1">
                <a:solidFill>
                  <a:srgbClr val="2563EB"/>
                </a:solidFill>
              </a:defRPr>
            </a:pPr>
            <a:r>
              <a:t>• Fairlearn Governance Framework</a:t>
            </a:r>
            <a:br/>
            <a:r>
              <a:rPr b="0" sz="950">
                <a:solidFill>
                  <a:srgbClr val="0F172A"/>
                </a:solidFill>
              </a:rPr>
              <a:t>   Suitability: Enforces ethical AI compliance by auditing Demographic Parity Ratios and Equalized Odds TPR/FPR disparities across protected demographics.</a:t>
            </a:r>
          </a:p>
          <a:p>
            <a:pPr>
              <a:spcAft>
                <a:spcPts val="1100"/>
              </a:spcAft>
              <a:defRPr sz="1050" b="1">
                <a:solidFill>
                  <a:srgbClr val="2563EB"/>
                </a:solidFill>
              </a:defRPr>
            </a:pPr>
            <a:r>
              <a:t>• Streamlit Custom Clinical Slate UI</a:t>
            </a:r>
            <a:br/>
            <a:r>
              <a:rPr b="0" sz="950">
                <a:solidFill>
                  <a:srgbClr val="0F172A"/>
                </a:solidFill>
              </a:rPr>
              <a:t>   Suitability: High-density clinical decision dashboard, custom Inter typography, responsive patient cards, and native modal dialogs built for hospital EHRs.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280160"/>
            <a:ext cx="5562295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0760" y="1280160"/>
            <a:ext cx="5562295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353312"/>
            <a:ext cx="52879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</a:defRPr>
            </a:pPr>
            <a:r>
              <a:t>TEAM RESPONSIBILITIES (HACKFEST EXECUTION)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783080"/>
            <a:ext cx="5212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F172A"/>
                </a:solidFill>
              </a:defRPr>
            </a:pPr>
            <a:r>
              <a:t>• ML &amp; Pipeline Lead: </a:t>
            </a:r>
            <a:r>
              <a:rPr b="0" sz="950">
                <a:solidFill>
                  <a:srgbClr val="475569"/>
                </a:solidFill>
              </a:rPr>
              <a:t>Data quality auditing, 99th-percentile Winsorization, 3-model benchmark, and Fairlearn demographic disparity mitigation.</a:t>
            </a:r>
          </a:p>
          <a:p>
            <a:pPr>
              <a:spcAft>
                <a:spcPts val="800"/>
              </a:spcAft>
              <a:defRPr sz="1000" b="1">
                <a:solidFill>
                  <a:srgbClr val="0F172A"/>
                </a:solidFill>
              </a:defRPr>
            </a:pPr>
            <a:r>
              <a:t>• LLM &amp; Explainability Lead: </a:t>
            </a:r>
            <a:r>
              <a:rPr b="0" sz="950">
                <a:solidFill>
                  <a:srgbClr val="475569"/>
                </a:solidFill>
              </a:rPr>
              <a:t>Groq API prompt engineering, local feature attribution, CP1252 unicode sanitization, and caching architecture.</a:t>
            </a:r>
          </a:p>
          <a:p>
            <a:pPr>
              <a:spcAft>
                <a:spcPts val="800"/>
              </a:spcAft>
              <a:defRPr sz="1000" b="1">
                <a:solidFill>
                  <a:srgbClr val="0F172A"/>
                </a:solidFill>
              </a:defRPr>
            </a:pPr>
            <a:r>
              <a:t>• Full-Stack Clinical UX Lead: </a:t>
            </a:r>
            <a:r>
              <a:rPr b="0" sz="950">
                <a:solidFill>
                  <a:srgbClr val="475569"/>
                </a:solidFill>
              </a:rPr>
              <a:t>Streamlit design system, responsive patient queue, interactive bedside calculator, and clinical workflow validation.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3886200"/>
            <a:ext cx="5562295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3886200"/>
            <a:ext cx="5562295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3959352"/>
            <a:ext cx="52879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</a:defRPr>
            </a:pPr>
            <a:r>
              <a:t>HACKATHON PROTOTYPE BUILD ROADMAP (36-HOUR TIMELINE)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389120"/>
            <a:ext cx="521208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563EB"/>
                </a:solidFill>
              </a:defRPr>
            </a:pPr>
            <a:r>
              <a:t>• Hours 00 - 08: Data Ingestion &amp; Benchmark: </a:t>
            </a:r>
            <a:r>
              <a:rPr b="0" sz="950">
                <a:solidFill>
                  <a:srgbClr val="0F172A"/>
                </a:solidFill>
              </a:rPr>
              <a:t>UCI cleaning, 99% Winsorization, LogReg vs RF vs XGBoost benchmark.</a:t>
            </a:r>
          </a:p>
          <a:p>
            <a:pPr>
              <a:spcAft>
                <a:spcPts val="700"/>
              </a:spcAft>
              <a:defRPr sz="1000" b="1">
                <a:solidFill>
                  <a:srgbClr val="2563EB"/>
                </a:solidFill>
              </a:defRPr>
            </a:pPr>
            <a:r>
              <a:t>• Hours 08 - 18: Modeling &amp; Fairness Governance: </a:t>
            </a:r>
            <a:r>
              <a:rPr b="0" sz="950">
                <a:solidFill>
                  <a:srgbClr val="0F172A"/>
                </a:solidFill>
              </a:rPr>
              <a:t>XGBoost class weighting (scale_pos_weight), threshold tuning, Fairlearn audits.</a:t>
            </a:r>
          </a:p>
          <a:p>
            <a:pPr>
              <a:spcAft>
                <a:spcPts val="700"/>
              </a:spcAft>
              <a:defRPr sz="1000" b="1">
                <a:solidFill>
                  <a:srgbClr val="2563EB"/>
                </a:solidFill>
              </a:defRPr>
            </a:pPr>
            <a:r>
              <a:t>• Hours 18 - 28: Groq AI &amp; Clinical Dashboard: </a:t>
            </a:r>
            <a:r>
              <a:rPr b="0" sz="950">
                <a:solidFill>
                  <a:srgbClr val="0F172A"/>
                </a:solidFill>
              </a:rPr>
              <a:t>Groq API prompt engineering, encounter caching, high-density Streamlit build.</a:t>
            </a:r>
          </a:p>
          <a:p>
            <a:pPr>
              <a:spcAft>
                <a:spcPts val="700"/>
              </a:spcAft>
              <a:defRPr sz="1000" b="1">
                <a:solidFill>
                  <a:srgbClr val="2563EB"/>
                </a:solidFill>
              </a:defRPr>
            </a:pPr>
            <a:r>
              <a:t>• Hours 28 - 36: Hardening &amp; Verification: </a:t>
            </a:r>
            <a:r>
              <a:rPr b="0" sz="950">
                <a:solidFill>
                  <a:srgbClr val="0F172A"/>
                </a:solidFill>
              </a:rPr>
              <a:t>Edge-case stress testing, packaging live demo, compliance documentation verification.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1094415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20040"/>
            <a:ext cx="73152" cy="8412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47472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2563EB"/>
                </a:solidFill>
              </a:defRPr>
            </a:pPr>
            <a:r>
              <a:t>HACKFEST 2026 SCREENING ROUND | HEALTHCARE &amp; MEDTECH | SLIDE 06 OF 06</a:t>
            </a:r>
          </a:p>
          <a:p>
            <a:pPr>
              <a:spcBef>
                <a:spcPts val="100"/>
              </a:spcBef>
              <a:defRPr sz="1700" b="1">
                <a:solidFill>
                  <a:srgbClr val="0F172A"/>
                </a:solidFill>
              </a:defRPr>
            </a:pPr>
            <a:r>
              <a:t>Expected Outcomes &amp; Live Demo Plan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</a:defRPr>
            </a:pPr>
            <a:r>
              <a:t>Working Prototype Deliverables, Success Metrics, Live Demonstration Flow, and Future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37960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Project: ClinicalAI Decision Support | Domain: Healthcare &amp; MedTech | Team 8</a:t>
            </a:r>
            <a:r>
              <a:rPr b="1"/>
              <a:t>                                                                                                                  Slide 6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530352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80160"/>
            <a:ext cx="530352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5331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</a:defRPr>
            </a:pPr>
            <a:r>
              <a:t>PLANNED DELIVERABLES &amp; QUANTIFIED SUCCESS MEASURES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83080"/>
            <a:ext cx="49377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50" b="1">
                <a:solidFill>
                  <a:srgbClr val="2563EB"/>
                </a:solidFill>
              </a:defRPr>
            </a:pPr>
            <a:r>
              <a:t>• Working Hackathon Prototype</a:t>
            </a:r>
            <a:br/>
            <a:r>
              <a:rPr b="0" sz="950">
                <a:solidFill>
                  <a:srgbClr val="0F172A"/>
                </a:solidFill>
              </a:rPr>
              <a:t>   Result: Fully operational web application running locally on port 8501, evaluated on 20,354 real held-out patient encounters.</a:t>
            </a:r>
          </a:p>
          <a:p>
            <a:pPr>
              <a:spcAft>
                <a:spcPts val="1100"/>
              </a:spcAft>
              <a:defRPr sz="1050" b="1">
                <a:solidFill>
                  <a:srgbClr val="2563EB"/>
                </a:solidFill>
              </a:defRPr>
            </a:pPr>
            <a:r>
              <a:t>• High Sensitivity (Recall = 59.45%)</a:t>
            </a:r>
            <a:br/>
            <a:r>
              <a:rPr b="0" sz="950">
                <a:solidFill>
                  <a:srgbClr val="0F172A"/>
                </a:solidFill>
              </a:rPr>
              <a:t>   Result: Captures ~60% of all 30-day readmissions at point of care (AUC-ROC: 0.6896, Brier Score: 0.177).</a:t>
            </a:r>
          </a:p>
          <a:p>
            <a:pPr>
              <a:spcAft>
                <a:spcPts val="1100"/>
              </a:spcAft>
              <a:defRPr sz="1050" b="1">
                <a:solidFill>
                  <a:srgbClr val="2563EB"/>
                </a:solidFill>
              </a:defRPr>
            </a:pPr>
            <a:r>
              <a:t>• Verified Algorithmic Fairness</a:t>
            </a:r>
            <a:br/>
            <a:r>
              <a:rPr b="0" sz="950">
                <a:solidFill>
                  <a:srgbClr val="0F172A"/>
                </a:solidFill>
              </a:rPr>
              <a:t>   Result: Age TPR disparity slashed from 17.13% to 0.96%; Race TPR disparity reduced by 25.43%; Gender Demographic Parity Ratio at 94.24% (EEOC 4/5ths compliant).</a:t>
            </a:r>
          </a:p>
          <a:p>
            <a:pPr>
              <a:spcAft>
                <a:spcPts val="1100"/>
              </a:spcAft>
              <a:defRPr sz="1050" b="1">
                <a:solidFill>
                  <a:srgbClr val="2563EB"/>
                </a:solidFill>
              </a:defRPr>
            </a:pPr>
            <a:r>
              <a:t>• Sub-Second Groq AI Reasoning</a:t>
            </a:r>
            <a:br/>
            <a:r>
              <a:rPr b="0" sz="950">
                <a:solidFill>
                  <a:srgbClr val="0F172A"/>
                </a:solidFill>
              </a:rPr>
              <a:t>   Result: Instantaneous 5-point clinical justification cards with persistent encounter caching.</a:t>
            </a:r>
          </a:p>
          <a:p>
            <a:pPr>
              <a:spcAft>
                <a:spcPts val="1100"/>
              </a:spcAft>
              <a:defRPr sz="1050" b="1">
                <a:solidFill>
                  <a:srgbClr val="2563EB"/>
                </a:solidFill>
              </a:defRPr>
            </a:pPr>
            <a:r>
              <a:t>• Operational Resource Allocation</a:t>
            </a:r>
            <a:br/>
            <a:r>
              <a:rPr b="0" sz="950">
                <a:solidFill>
                  <a:srgbClr val="0F172A"/>
                </a:solidFill>
              </a:rPr>
              <a:t>   Result: Automatic trigger logic for Pharmacist Bedside Recon, CDCES Referral, Home Health Nurse, and 48-Hour Telehealth Outreach.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280160"/>
            <a:ext cx="5562295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0760" y="1280160"/>
            <a:ext cx="5562295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353312"/>
            <a:ext cx="52879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</a:defRPr>
            </a:pPr>
            <a:r>
              <a:t>WHAT THE LIVE DEMO WILL SHOW (PITCH SCRIPT)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783080"/>
            <a:ext cx="5212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F172A"/>
                </a:solidFill>
              </a:defRPr>
            </a:pPr>
            <a:r>
              <a:t>• Step 1: Patient Worklist Queue: </a:t>
            </a:r>
            <a:r>
              <a:rPr b="0" sz="950">
                <a:solidFill>
                  <a:srgbClr val="475569"/>
                </a:solidFill>
              </a:rPr>
              <a:t>Filter 20,354 inpatient encounters by High/Moderate/Low risk tier and search encounter IDs.</a:t>
            </a:r>
          </a:p>
          <a:p>
            <a:pPr>
              <a:spcAft>
                <a:spcPts val="600"/>
              </a:spcAft>
              <a:defRPr sz="1000" b="1">
                <a:solidFill>
                  <a:srgbClr val="0F172A"/>
                </a:solidFill>
              </a:defRPr>
            </a:pPr>
            <a:r>
              <a:t>• Step 2: Bedside Risk Simulation: </a:t>
            </a:r>
            <a:r>
              <a:rPr b="0" sz="950">
                <a:solidFill>
                  <a:srgbClr val="475569"/>
                </a:solidFill>
              </a:rPr>
              <a:t>Interactively adjust hospital stay (days), medications, and A1C levels; observe live gauge recalibration.</a:t>
            </a:r>
          </a:p>
          <a:p>
            <a:pPr>
              <a:spcAft>
                <a:spcPts val="600"/>
              </a:spcAft>
              <a:defRPr sz="1000" b="1">
                <a:solidFill>
                  <a:srgbClr val="0F172A"/>
                </a:solidFill>
              </a:defRPr>
            </a:pPr>
            <a:r>
              <a:t>• Step 3: On-Demand Groq AI Modal: </a:t>
            </a:r>
            <a:r>
              <a:rPr b="0" sz="950">
                <a:solidFill>
                  <a:srgbClr val="475569"/>
                </a:solidFill>
              </a:rPr>
              <a:t>Click 'Review' on patient ENC-99195; showcase 5 parsed reasoning points &amp; XGBoost feature attribution.</a:t>
            </a:r>
          </a:p>
          <a:p>
            <a:pPr>
              <a:spcAft>
                <a:spcPts val="600"/>
              </a:spcAft>
              <a:defRPr sz="1000" b="1">
                <a:solidFill>
                  <a:srgbClr val="0F172A"/>
                </a:solidFill>
              </a:defRPr>
            </a:pPr>
            <a:r>
              <a:t>• Step 4: Clinical Governance Panel: </a:t>
            </a:r>
            <a:r>
              <a:rPr b="0" sz="950">
                <a:solidFill>
                  <a:srgbClr val="475569"/>
                </a:solidFill>
              </a:rPr>
              <a:t>Examine multi-model benchmark curves and audited demographic disparity reduction metrics.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3886200"/>
            <a:ext cx="5562295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3886200"/>
            <a:ext cx="5562295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3959352"/>
            <a:ext cx="52879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</a:defRPr>
            </a:pPr>
            <a:r>
              <a:t>DEPENDENCIES, RISKS &amp; FUTURE ROADMAP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389120"/>
            <a:ext cx="521208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2563EB"/>
                </a:solidFill>
              </a:defRPr>
            </a:pPr>
            <a:r>
              <a:t>• Required Datasets &amp; Services: </a:t>
            </a:r>
            <a:r>
              <a:rPr b="0" sz="950">
                <a:solidFill>
                  <a:srgbClr val="0F172A"/>
                </a:solidFill>
              </a:rPr>
              <a:t>UCI 130-US Hospitals (Public, de-identified EHR; zero PHI risk) + Groq API Key (backed by deterministic fallback).</a:t>
            </a:r>
          </a:p>
          <a:p>
            <a:pPr>
              <a:spcAft>
                <a:spcPts val="600"/>
              </a:spcAft>
              <a:defRPr sz="1000" b="1">
                <a:solidFill>
                  <a:srgbClr val="2563EB"/>
                </a:solidFill>
              </a:defRPr>
            </a:pPr>
            <a:r>
              <a:t>• Key Risks &amp; Mitigation: </a:t>
            </a:r>
            <a:r>
              <a:rPr b="0" sz="950">
                <a:solidFill>
                  <a:srgbClr val="0F172A"/>
                </a:solidFill>
              </a:rPr>
              <a:t>LLM rate limits or network drops mitigated via in-memory caching and clinical rule fallbacks; clinical drift monitored via governance dashboard.</a:t>
            </a:r>
          </a:p>
          <a:p>
            <a:pPr>
              <a:spcAft>
                <a:spcPts val="600"/>
              </a:spcAft>
              <a:defRPr sz="1000" b="1">
                <a:solidFill>
                  <a:srgbClr val="2563EB"/>
                </a:solidFill>
              </a:defRPr>
            </a:pPr>
            <a:r>
              <a:t>• Hackathon vs. Future Scope: </a:t>
            </a:r>
            <a:r>
              <a:rPr b="0" sz="950">
                <a:solidFill>
                  <a:srgbClr val="0F172A"/>
                </a:solidFill>
              </a:rPr>
              <a:t>Hackathon delivers working standalone CDS prototype. Future roadmap expands to SMART-on-FHIR Epic/Cerner integration and prospective clinical trials.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